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3F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74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78240" y="822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01101100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77824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00110101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778240" y="1920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01110100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77824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0" y="3017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10101100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0" y="3566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01100111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00101101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0" y="4663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01011010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0" y="5212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01001101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778240" y="5760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00111100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8240" y="6309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849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01101001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Tópicos Especiais em Ciência de Dados VI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PEDAGÓGICO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51460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Estruturas de Dados e Algoritmos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Manipulação de Dados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457200" cy="32004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133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 · 2026/2 · 72 h-aula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4988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Vinicius Ramos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Apresentação da Disciplina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</a:t>
            </a:r>
            <a:endParaRPr lang="en-US" sz="1300" dirty="0"/>
          </a:p>
        </p:txBody>
      </p:sp>
      <p:pic>
        <p:nvPicPr>
          <p:cNvPr id="3" name="Image 0" descr="/home/claude/work2/assets/professor_pho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3200400" cy="397764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34840" y="13716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Vinicius Ramos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434840" y="2148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0" y="2121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v.ramos@ufsc.br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34840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25786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viniciusramos.pro.br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434840" y="34290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do Departamento de Engenharia do Conhecimento (EGC) / UFSC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Doutor em Engenharia de Sistemas e Computação (COPPE/UFRJ e TU/e)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Pesquisas em Tecnologias Educacionais Inteligentes, Analítica de Aprendizagem, Mineração de Dados Educacionais, Ensino de Computação e Aprendizado de Máquina Aplicado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Entusiasta das Tecnologias Open-source e Livres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Apresentação da Disciplina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ESTUDAR?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999427" cy="777240"/>
          </a:xfrm>
          <a:prstGeom prst="roundRect">
            <a:avLst>
              <a:gd name="adj" fmla="val 9412"/>
            </a:avLst>
          </a:prstGeom>
          <a:solidFill>
            <a:srgbClr val="4F5A7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19994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48067" y="15544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22387" y="1554480"/>
            <a:ext cx="1999427" cy="777240"/>
          </a:xfrm>
          <a:prstGeom prst="roundRect">
            <a:avLst>
              <a:gd name="adj" fmla="val 9412"/>
            </a:avLst>
          </a:prstGeom>
          <a:solidFill>
            <a:srgbClr val="6A8F94"/>
          </a:solidFill>
          <a:ln/>
        </p:spPr>
      </p:sp>
      <p:sp>
        <p:nvSpPr>
          <p:cNvPr id="7" name="Text 5"/>
          <p:cNvSpPr/>
          <p:nvPr/>
        </p:nvSpPr>
        <p:spPr>
          <a:xfrm>
            <a:off x="2822387" y="1554480"/>
            <a:ext cx="19994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21814" y="15544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96134" y="1554480"/>
            <a:ext cx="1999427" cy="777240"/>
          </a:xfrm>
          <a:prstGeom prst="roundRect">
            <a:avLst>
              <a:gd name="adj" fmla="val 9412"/>
            </a:avLst>
          </a:prstGeom>
          <a:solidFill>
            <a:srgbClr val="8B695B"/>
          </a:solidFill>
          <a:ln/>
        </p:spPr>
      </p:sp>
      <p:sp>
        <p:nvSpPr>
          <p:cNvPr id="10" name="Text 8"/>
          <p:cNvSpPr/>
          <p:nvPr/>
        </p:nvSpPr>
        <p:spPr>
          <a:xfrm>
            <a:off x="5096134" y="1554480"/>
            <a:ext cx="19994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95561" y="15544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69881" y="1554480"/>
            <a:ext cx="1999427" cy="777240"/>
          </a:xfrm>
          <a:prstGeom prst="roundRect">
            <a:avLst>
              <a:gd name="adj" fmla="val 9412"/>
            </a:avLst>
          </a:prstGeom>
          <a:solidFill>
            <a:srgbClr val="6A8F94"/>
          </a:solidFill>
          <a:ln/>
        </p:spPr>
      </p:sp>
      <p:sp>
        <p:nvSpPr>
          <p:cNvPr id="13" name="Text 11"/>
          <p:cNvSpPr/>
          <p:nvPr/>
        </p:nvSpPr>
        <p:spPr>
          <a:xfrm>
            <a:off x="7369881" y="1554480"/>
            <a:ext cx="19994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69308" y="155448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43628" y="1554480"/>
            <a:ext cx="1999427" cy="777240"/>
          </a:xfrm>
          <a:prstGeom prst="roundRect">
            <a:avLst>
              <a:gd name="adj" fmla="val 9412"/>
            </a:avLst>
          </a:prstGeom>
          <a:solidFill>
            <a:srgbClr val="4F5A71"/>
          </a:solidFill>
          <a:ln/>
        </p:spPr>
      </p:sp>
      <p:sp>
        <p:nvSpPr>
          <p:cNvPr id="16" name="Text 14"/>
          <p:cNvSpPr/>
          <p:nvPr/>
        </p:nvSpPr>
        <p:spPr>
          <a:xfrm>
            <a:off x="9643628" y="1554480"/>
            <a:ext cx="19994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478128" y="2880360"/>
            <a:ext cx="2834640" cy="548640"/>
          </a:xfrm>
          <a:prstGeom prst="roundRect">
            <a:avLst>
              <a:gd name="adj" fmla="val 15000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78128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Estruturas de Dados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12768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78528" y="2880360"/>
            <a:ext cx="2834640" cy="548640"/>
          </a:xfrm>
          <a:prstGeom prst="roundRect">
            <a:avLst>
              <a:gd name="adj" fmla="val 15000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8528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13168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878928" y="2880360"/>
            <a:ext cx="2834640" cy="548640"/>
          </a:xfrm>
          <a:prstGeom prst="roundRect">
            <a:avLst>
              <a:gd name="adj" fmla="val 15000"/>
            </a:avLst>
          </a:prstGeom>
          <a:solidFill>
            <a:srgbClr val="F4F6F8"/>
          </a:solidFill>
          <a:ln w="12700">
            <a:solidFill>
              <a:srgbClr val="B2C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78928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Desempenho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16052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b="1" i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estudaremos estruturas de dados isoladamente; elas surgirão como</a:t>
            </a:r>
            <a:endParaRPr lang="en-US" sz="1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900" b="1" i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para problemas concretos.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Apresentação da Disciplina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DA DISCIPLINA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4F5A7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61872" y="149047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23544" y="1892808"/>
            <a:ext cx="0" cy="274320"/>
          </a:xfrm>
          <a:prstGeom prst="line">
            <a:avLst/>
          </a:prstGeom>
          <a:noFill/>
          <a:ln w="19050">
            <a:solidFill>
              <a:srgbClr val="D7DB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67128"/>
            <a:ext cx="384048" cy="384048"/>
          </a:xfrm>
          <a:prstGeom prst="ellipse">
            <a:avLst/>
          </a:prstGeom>
          <a:solidFill>
            <a:srgbClr val="4F5A7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21488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sobre os dados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23544" y="2551176"/>
            <a:ext cx="0" cy="274320"/>
          </a:xfrm>
          <a:prstGeom prst="line">
            <a:avLst/>
          </a:prstGeom>
          <a:noFill/>
          <a:ln w="19050">
            <a:solidFill>
              <a:srgbClr val="D7DB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825496"/>
            <a:ext cx="384048" cy="384048"/>
          </a:xfrm>
          <a:prstGeom prst="ellipse">
            <a:avLst/>
          </a:prstGeom>
          <a:solidFill>
            <a:srgbClr val="4F5A7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280720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Alternativas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23544" y="3209544"/>
            <a:ext cx="0" cy="274320"/>
          </a:xfrm>
          <a:prstGeom prst="line">
            <a:avLst/>
          </a:prstGeom>
          <a:noFill/>
          <a:ln w="19050">
            <a:solidFill>
              <a:srgbClr val="D7DB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83864"/>
            <a:ext cx="384048" cy="384048"/>
          </a:xfrm>
          <a:prstGeom prst="ellipse">
            <a:avLst/>
          </a:prstGeom>
          <a:solidFill>
            <a:srgbClr val="4F5A7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346557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23544" y="3867912"/>
            <a:ext cx="0" cy="274320"/>
          </a:xfrm>
          <a:prstGeom prst="line">
            <a:avLst/>
          </a:prstGeom>
          <a:noFill/>
          <a:ln w="19050">
            <a:solidFill>
              <a:srgbClr val="D7DB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142232"/>
            <a:ext cx="384048" cy="384048"/>
          </a:xfrm>
          <a:prstGeom prst="ellipse">
            <a:avLst/>
          </a:prstGeom>
          <a:solidFill>
            <a:srgbClr val="4F5A7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61872" y="412394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Experimentação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23544" y="4526280"/>
            <a:ext cx="0" cy="274320"/>
          </a:xfrm>
          <a:prstGeom prst="line">
            <a:avLst/>
          </a:prstGeom>
          <a:noFill/>
          <a:ln w="19050">
            <a:solidFill>
              <a:srgbClr val="D7DB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800600"/>
            <a:ext cx="384048" cy="384048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61872" y="478231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 técnica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675120" y="1508760"/>
            <a:ext cx="4782312" cy="4297680"/>
          </a:xfrm>
          <a:prstGeom prst="roundRect">
            <a:avLst>
              <a:gd name="adj" fmla="val 2553"/>
            </a:avLst>
          </a:prstGeom>
          <a:solidFill>
            <a:srgbClr val="3D3F41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880360"/>
            <a:ext cx="386791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solução correta nem sempre é a solução mais adequada.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Apresentação da Disciplina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SERÃO AS AULAS?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1666189" cy="731520"/>
          </a:xfrm>
          <a:prstGeom prst="roundRect">
            <a:avLst>
              <a:gd name="adj" fmla="val 10000"/>
            </a:avLst>
          </a:prstGeom>
          <a:solidFill>
            <a:srgbClr val="4F5A71"/>
          </a:solidFill>
          <a:ln/>
        </p:spPr>
      </p:sp>
      <p:sp>
        <p:nvSpPr>
          <p:cNvPr id="4" name="Text 2"/>
          <p:cNvSpPr/>
          <p:nvPr/>
        </p:nvSpPr>
        <p:spPr>
          <a:xfrm>
            <a:off x="521208" y="1417320"/>
            <a:ext cx="1629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69109" y="1417320"/>
            <a:ext cx="237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06853" y="1417320"/>
            <a:ext cx="1666189" cy="731520"/>
          </a:xfrm>
          <a:prstGeom prst="roundRect">
            <a:avLst>
              <a:gd name="adj" fmla="val 10000"/>
            </a:avLst>
          </a:prstGeom>
          <a:solidFill>
            <a:srgbClr val="8B695B"/>
          </a:solidFill>
          <a:ln/>
        </p:spPr>
      </p:sp>
      <p:sp>
        <p:nvSpPr>
          <p:cNvPr id="7" name="Text 5"/>
          <p:cNvSpPr/>
          <p:nvPr/>
        </p:nvSpPr>
        <p:spPr>
          <a:xfrm>
            <a:off x="2425141" y="1417320"/>
            <a:ext cx="1629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DISCUSSÃO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73042" y="1417320"/>
            <a:ext cx="237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0786" y="1417320"/>
            <a:ext cx="1666189" cy="731520"/>
          </a:xfrm>
          <a:prstGeom prst="roundRect">
            <a:avLst>
              <a:gd name="adj" fmla="val 10000"/>
            </a:avLst>
          </a:prstGeom>
          <a:solidFill>
            <a:srgbClr val="4F5A71"/>
          </a:solidFill>
          <a:ln/>
        </p:spPr>
      </p:sp>
      <p:sp>
        <p:nvSpPr>
          <p:cNvPr id="10" name="Text 8"/>
          <p:cNvSpPr/>
          <p:nvPr/>
        </p:nvSpPr>
        <p:spPr>
          <a:xfrm>
            <a:off x="4329074" y="1417320"/>
            <a:ext cx="1629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76976" y="1417320"/>
            <a:ext cx="237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4720" y="1417320"/>
            <a:ext cx="1666189" cy="731520"/>
          </a:xfrm>
          <a:prstGeom prst="roundRect">
            <a:avLst>
              <a:gd name="adj" fmla="val 10000"/>
            </a:avLst>
          </a:prstGeom>
          <a:solidFill>
            <a:srgbClr val="8B695B"/>
          </a:solidFill>
          <a:ln/>
        </p:spPr>
      </p:sp>
      <p:sp>
        <p:nvSpPr>
          <p:cNvPr id="13" name="Text 11"/>
          <p:cNvSpPr/>
          <p:nvPr/>
        </p:nvSpPr>
        <p:spPr>
          <a:xfrm>
            <a:off x="6233008" y="1417320"/>
            <a:ext cx="1629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80909" y="1417320"/>
            <a:ext cx="237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18653" y="1417320"/>
            <a:ext cx="1666189" cy="731520"/>
          </a:xfrm>
          <a:prstGeom prst="roundRect">
            <a:avLst>
              <a:gd name="adj" fmla="val 10000"/>
            </a:avLst>
          </a:prstGeom>
          <a:solidFill>
            <a:srgbClr val="4F5A71"/>
          </a:solidFill>
          <a:ln/>
        </p:spPr>
      </p:sp>
      <p:sp>
        <p:nvSpPr>
          <p:cNvPr id="16" name="Text 14"/>
          <p:cNvSpPr/>
          <p:nvPr/>
        </p:nvSpPr>
        <p:spPr>
          <a:xfrm>
            <a:off x="8136941" y="1417320"/>
            <a:ext cx="1629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784842" y="1417320"/>
            <a:ext cx="237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22586" y="1417320"/>
            <a:ext cx="1666189" cy="731520"/>
          </a:xfrm>
          <a:prstGeom prst="roundRect">
            <a:avLst>
              <a:gd name="adj" fmla="val 10000"/>
            </a:avLst>
          </a:prstGeom>
          <a:solidFill>
            <a:srgbClr val="8B695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40874" y="1417320"/>
            <a:ext cx="16296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DECISÃO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03120" y="2660904"/>
            <a:ext cx="118872" cy="118872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21" name="Text 19"/>
          <p:cNvSpPr/>
          <p:nvPr/>
        </p:nvSpPr>
        <p:spPr>
          <a:xfrm>
            <a:off x="2423160" y="25328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existe separação rígida entre teoria e prática.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103120" y="3227832"/>
            <a:ext cx="118872" cy="118872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23" name="Text 21"/>
          <p:cNvSpPr/>
          <p:nvPr/>
        </p:nvSpPr>
        <p:spPr>
          <a:xfrm>
            <a:off x="2423160" y="30998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semana é a unidade didática.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103120" y="3794760"/>
            <a:ext cx="118872" cy="118872"/>
          </a:xfrm>
          <a:prstGeom prst="ellipse">
            <a:avLst/>
          </a:prstGeom>
          <a:solidFill>
            <a:srgbClr val="FFC000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366674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encontro integra discussão, programação e experimentação.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E FORMATO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5010912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Google Colab  ·  Trabalho individual  ·  Duplas ou trios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Apresentação da Disciplina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ACOMPANHAR A DISCIPLINA?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50012" y="141732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806044" y="16184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6044" y="200253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OFICIAL — AGORA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06044" y="2468880"/>
            <a:ext cx="30083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oficial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Materiais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Orientações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70452" y="26974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5628" y="141732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4591660" y="16184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8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1660" y="200253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DE TRABALHO — AGORA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91660" y="2468880"/>
            <a:ext cx="30083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56068" y="2697480"/>
            <a:ext cx="265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1244" y="141732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9CDD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8377276" y="1618488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77276" y="2002536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FUTURA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77276" y="2468880"/>
            <a:ext cx="30083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Será incorporado posteriormente como repositório oficial do projeto pedagógico.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663440"/>
            <a:ext cx="10725912" cy="566928"/>
          </a:xfrm>
          <a:prstGeom prst="roundRect">
            <a:avLst>
              <a:gd name="adj" fmla="val 14516"/>
            </a:avLst>
          </a:prstGeom>
          <a:solidFill>
            <a:srgbClr val="FFC0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634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começar, não é necessário instalar Python ou Jupyter.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Apresentação da Disciplina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217774" cy="914400"/>
          </a:xfrm>
          <a:prstGeom prst="rect">
            <a:avLst/>
          </a:prstGeom>
          <a:solidFill>
            <a:srgbClr val="4F5A7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32177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83664"/>
            <a:ext cx="32177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949294" y="1463040"/>
            <a:ext cx="3217774" cy="914400"/>
          </a:xfrm>
          <a:prstGeom prst="rect">
            <a:avLst/>
          </a:prstGeom>
          <a:solidFill>
            <a:srgbClr val="6A8F9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49294" y="1554480"/>
            <a:ext cx="32177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49294" y="1883664"/>
            <a:ext cx="32177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167067" y="1463040"/>
            <a:ext cx="2145182" cy="914400"/>
          </a:xfrm>
          <a:prstGeom prst="rect">
            <a:avLst/>
          </a:prstGeom>
          <a:solidFill>
            <a:srgbClr val="8B695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67067" y="1554480"/>
            <a:ext cx="21451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67067" y="1883664"/>
            <a:ext cx="21451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312250" y="1463040"/>
            <a:ext cx="2145182" cy="914400"/>
          </a:xfrm>
          <a:prstGeom prst="rect">
            <a:avLst/>
          </a:prstGeom>
          <a:solidFill>
            <a:srgbClr val="FFC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12250" y="1554480"/>
            <a:ext cx="21451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12250" y="1883664"/>
            <a:ext cx="21451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8028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Prova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1228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Prova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64428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 — Atividades Experimentais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07628" y="2606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 — Estudo Integrador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84248" y="3246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4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1984248" y="32461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 = 0,30(P1) + 0,30(P2) + 0,20(AE) + 0,20(EI)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3355848" y="448056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3D3F41"/>
          </a:solidFill>
          <a:ln/>
        </p:spPr>
      </p:sp>
      <p:sp>
        <p:nvSpPr>
          <p:cNvPr id="22" name="Text 20"/>
          <p:cNvSpPr/>
          <p:nvPr/>
        </p:nvSpPr>
        <p:spPr>
          <a:xfrm>
            <a:off x="3355848" y="44805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 ≥ 6,0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Apresentação da Disciplina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A APROVAÇÃO?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7464" y="1600200"/>
            <a:ext cx="3401568" cy="2834640"/>
          </a:xfrm>
          <a:prstGeom prst="roundRect">
            <a:avLst>
              <a:gd name="adj" fmla="val 3226"/>
            </a:avLst>
          </a:prstGeom>
          <a:solidFill>
            <a:srgbClr val="4F5A71"/>
          </a:solidFill>
          <a:ln/>
        </p:spPr>
      </p:sp>
      <p:sp>
        <p:nvSpPr>
          <p:cNvPr id="4" name="Text 2"/>
          <p:cNvSpPr/>
          <p:nvPr/>
        </p:nvSpPr>
        <p:spPr>
          <a:xfrm>
            <a:off x="993496" y="185623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93496" y="251460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 ≥ 6,0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395064" y="1600200"/>
            <a:ext cx="3401568" cy="2834640"/>
          </a:xfrm>
          <a:prstGeom prst="roundRect">
            <a:avLst>
              <a:gd name="adj" fmla="val 3226"/>
            </a:avLst>
          </a:prstGeom>
          <a:solidFill>
            <a:srgbClr val="6A8F94"/>
          </a:solidFill>
          <a:ln/>
        </p:spPr>
      </p:sp>
      <p:sp>
        <p:nvSpPr>
          <p:cNvPr id="7" name="Text 5"/>
          <p:cNvSpPr/>
          <p:nvPr/>
        </p:nvSpPr>
        <p:spPr>
          <a:xfrm>
            <a:off x="4651096" y="185623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FREQUÊNCIA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51096" y="251460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51096" y="384048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mínima obrigatória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52664" y="1600200"/>
            <a:ext cx="3401568" cy="2834640"/>
          </a:xfrm>
          <a:prstGeom prst="roundRect">
            <a:avLst>
              <a:gd name="adj" fmla="val 3226"/>
            </a:avLst>
          </a:prstGeom>
          <a:solidFill>
            <a:srgbClr val="3D3F41"/>
          </a:solidFill>
          <a:ln/>
        </p:spPr>
      </p:sp>
      <p:sp>
        <p:nvSpPr>
          <p:cNvPr id="11" name="Text 9"/>
          <p:cNvSpPr/>
          <p:nvPr/>
        </p:nvSpPr>
        <p:spPr>
          <a:xfrm>
            <a:off x="8308696" y="185623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2C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08696" y="251460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REC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48006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disciplina possui predominância de atividades práticas, razão pela qual não prevê recuperação.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Apresentação da Disciplina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F5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DO TEMPO DO SEMESTRE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280160" y="3657600"/>
            <a:ext cx="9631375" cy="0"/>
          </a:xfrm>
          <a:prstGeom prst="line">
            <a:avLst/>
          </a:prstGeom>
          <a:noFill/>
          <a:ln w="25400">
            <a:solidFill>
              <a:srgbClr val="D7DB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9576" y="3557016"/>
            <a:ext cx="201168" cy="201168"/>
          </a:xfrm>
          <a:prstGeom prst="ellipse">
            <a:avLst/>
          </a:prstGeom>
          <a:solidFill>
            <a:srgbClr val="4F5A7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7180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5A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13–14/08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6002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da disciplina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78419" y="3529584"/>
            <a:ext cx="256032" cy="256032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3455" y="3977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24–25/09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086295" y="4315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04694" y="3529584"/>
            <a:ext cx="256032" cy="256032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49730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12–13/11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1257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58401" y="3557016"/>
            <a:ext cx="201168" cy="201168"/>
          </a:xfrm>
          <a:prstGeom prst="ellipse">
            <a:avLst/>
          </a:prstGeom>
          <a:solidFill>
            <a:srgbClr val="4F5A7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6005" y="3977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5A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19–20/11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38845" y="4315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Integrador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84676" y="3557016"/>
            <a:ext cx="201168" cy="201168"/>
          </a:xfrm>
          <a:prstGeom prst="ellipse">
            <a:avLst/>
          </a:prstGeom>
          <a:solidFill>
            <a:srgbClr val="4F5A7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2280" y="2743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5A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26/11–04/12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512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Integrador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783519" y="3529584"/>
            <a:ext cx="256032" cy="256032"/>
          </a:xfrm>
          <a:prstGeom prst="ellipse">
            <a:avLst/>
          </a:prstGeom>
          <a:solidFill>
            <a:srgbClr val="FFC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8555" y="3977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10–11/12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791395" y="4315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D3F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61722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datas são apoio visual — confira a versão final do Plano de Ensino antes do uso definitivo.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09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68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EGC5310 · Apresentação da Disciplina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2026-08-11T15:04:22Z</dcterms:created>
  <dcterms:modified xsi:type="dcterms:W3CDTF">2026-08-11T15:04:22Z</dcterms:modified>
</cp:coreProperties>
</file>