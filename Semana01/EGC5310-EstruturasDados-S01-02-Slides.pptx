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O(1)</c:v>
                </c:pt>
              </c:strCache>
            </c:strRef>
          </c:tx>
          <c:spPr>
            <a:solidFill>
              <a:srgbClr val="4F5A71"/>
            </a:solidFill>
            <a:ln w="38100" cap="flat">
              <a:solidFill>
                <a:srgbClr val="4F5A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5A71"/>
              </a:solidFill>
              <a:ln w="9525" cap="flat">
                <a:solidFill>
                  <a:srgbClr val="4F5A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n₁</c:v>
                  </c:pt>
                  <c:pt idx="1">
                    <c:v>n₂</c:v>
                  </c:pt>
                  <c:pt idx="2">
                    <c:v>n₃</c:v>
                  </c:pt>
                  <c:pt idx="3">
                    <c:v>n₄</c:v>
                  </c:pt>
                  <c:pt idx="4">
                    <c:v>n₅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6A8F94"/>
            </a:solidFill>
            <a:ln w="38100" cap="flat">
              <a:solidFill>
                <a:srgbClr val="6A8F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8F94"/>
              </a:solidFill>
              <a:ln w="9525" cap="flat">
                <a:solidFill>
                  <a:srgbClr val="6A8F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n₁</c:v>
                  </c:pt>
                  <c:pt idx="1">
                    <c:v>n₂</c:v>
                  </c:pt>
                  <c:pt idx="2">
                    <c:v>n₃</c:v>
                  </c:pt>
                  <c:pt idx="3">
                    <c:v>n₄</c:v>
                  </c:pt>
                  <c:pt idx="4">
                    <c:v>n₅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8B695B"/>
            </a:solidFill>
            <a:ln w="38100" cap="flat">
              <a:solidFill>
                <a:srgbClr val="8B6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695B"/>
              </a:solidFill>
              <a:ln w="9525" cap="flat">
                <a:solidFill>
                  <a:srgbClr val="8B6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n₁</c:v>
                  </c:pt>
                  <c:pt idx="1">
                    <c:v>n₂</c:v>
                  </c:pt>
                  <c:pt idx="2">
                    <c:v>n₃</c:v>
                  </c:pt>
                  <c:pt idx="3">
                    <c:v>n₄</c:v>
                  </c:pt>
                  <c:pt idx="4">
                    <c:v>n₅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BD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680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F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74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78240" y="822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01101100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00110101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7824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01110100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10101100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01100111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00101101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01011010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0" y="5212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01001101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0" y="5760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00111100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0" y="6309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01101001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691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Tópicos Especiais em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 VI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Estruturas de Dados e Algoritmos para Manipulação de Dados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45720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4F5A7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01 · Do problema ao custo computacional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DA DISCIPLINA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7259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uma solução que funciona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deixa de ser uma boa solução?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232508" y="4617720"/>
            <a:ext cx="1554480" cy="502920"/>
          </a:xfrm>
          <a:prstGeom prst="roundRect">
            <a:avLst>
              <a:gd name="adj" fmla="val 16364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32508" y="4617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86988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9908" y="4617720"/>
            <a:ext cx="1554480" cy="502920"/>
          </a:xfrm>
          <a:prstGeom prst="roundRect">
            <a:avLst>
              <a:gd name="adj" fmla="val 16364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9908" y="4617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44388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47308" y="4617720"/>
            <a:ext cx="1554480" cy="502920"/>
          </a:xfrm>
          <a:prstGeom prst="roundRect">
            <a:avLst>
              <a:gd name="adj" fmla="val 16364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7308" y="4617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01788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04708" y="4617720"/>
            <a:ext cx="1554480" cy="502920"/>
          </a:xfrm>
          <a:prstGeom prst="roundRect">
            <a:avLst>
              <a:gd name="adj" fmla="val 16364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4708" y="4617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TRABALHAREMOS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2331720"/>
            <a:ext cx="1378523" cy="777240"/>
          </a:xfrm>
          <a:prstGeom prst="roundRect">
            <a:avLst>
              <a:gd name="adj" fmla="val 9412"/>
            </a:avLst>
          </a:prstGeom>
          <a:solidFill>
            <a:srgbClr val="4F5A71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2331720"/>
            <a:ext cx="13236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81443" y="23317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37475" y="2331720"/>
            <a:ext cx="1378523" cy="777240"/>
          </a:xfrm>
          <a:prstGeom prst="roundRect">
            <a:avLst>
              <a:gd name="adj" fmla="val 9412"/>
            </a:avLst>
          </a:prstGeom>
          <a:solidFill>
            <a:srgbClr val="8B695B"/>
          </a:solidFill>
          <a:ln/>
        </p:spPr>
      </p:sp>
      <p:sp>
        <p:nvSpPr>
          <p:cNvPr id="7" name="Text 5"/>
          <p:cNvSpPr/>
          <p:nvPr/>
        </p:nvSpPr>
        <p:spPr>
          <a:xfrm>
            <a:off x="2164907" y="2331720"/>
            <a:ext cx="13236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15999" y="23317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72031" y="2331720"/>
            <a:ext cx="1378523" cy="777240"/>
          </a:xfrm>
          <a:prstGeom prst="roundRect">
            <a:avLst>
              <a:gd name="adj" fmla="val 9412"/>
            </a:avLst>
          </a:prstGeom>
          <a:solidFill>
            <a:srgbClr val="4F5A71"/>
          </a:solidFill>
          <a:ln/>
        </p:spPr>
      </p:sp>
      <p:sp>
        <p:nvSpPr>
          <p:cNvPr id="10" name="Text 8"/>
          <p:cNvSpPr/>
          <p:nvPr/>
        </p:nvSpPr>
        <p:spPr>
          <a:xfrm>
            <a:off x="3799463" y="2331720"/>
            <a:ext cx="13236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50554" y="23317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06586" y="2331720"/>
            <a:ext cx="1378523" cy="777240"/>
          </a:xfrm>
          <a:prstGeom prst="roundRect">
            <a:avLst>
              <a:gd name="adj" fmla="val 9412"/>
            </a:avLst>
          </a:prstGeom>
          <a:solidFill>
            <a:srgbClr val="8B69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34018" y="2331720"/>
            <a:ext cx="13236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85109" y="23317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1141" y="2331720"/>
            <a:ext cx="1378523" cy="777240"/>
          </a:xfrm>
          <a:prstGeom prst="roundRect">
            <a:avLst>
              <a:gd name="adj" fmla="val 9412"/>
            </a:avLst>
          </a:prstGeom>
          <a:solidFill>
            <a:srgbClr val="4F5A71"/>
          </a:solidFill>
          <a:ln/>
        </p:spPr>
      </p:sp>
      <p:sp>
        <p:nvSpPr>
          <p:cNvPr id="16" name="Text 14"/>
          <p:cNvSpPr/>
          <p:nvPr/>
        </p:nvSpPr>
        <p:spPr>
          <a:xfrm>
            <a:off x="7068573" y="2331720"/>
            <a:ext cx="13236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9665" y="23317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75697" y="2331720"/>
            <a:ext cx="1378523" cy="777240"/>
          </a:xfrm>
          <a:prstGeom prst="roundRect">
            <a:avLst>
              <a:gd name="adj" fmla="val 9412"/>
            </a:avLst>
          </a:prstGeom>
          <a:solidFill>
            <a:srgbClr val="8B695B"/>
          </a:solidFill>
          <a:ln/>
        </p:spPr>
      </p:sp>
      <p:sp>
        <p:nvSpPr>
          <p:cNvPr id="19" name="Text 17"/>
          <p:cNvSpPr/>
          <p:nvPr/>
        </p:nvSpPr>
        <p:spPr>
          <a:xfrm>
            <a:off x="8703129" y="2331720"/>
            <a:ext cx="13236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4220" y="23317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10252" y="2331720"/>
            <a:ext cx="1378523" cy="777240"/>
          </a:xfrm>
          <a:prstGeom prst="roundRect">
            <a:avLst>
              <a:gd name="adj" fmla="val 9412"/>
            </a:avLst>
          </a:prstGeom>
          <a:solidFill>
            <a:srgbClr val="FFC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337684" y="2331720"/>
            <a:ext cx="13236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SOLUÇÃO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estruturas de dados aparecem porque o problema exige uma forma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adequada de organizar e manipular os dados.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PRIMEIRO CENÁRIO: SISTEMA ACADÊMICO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417320"/>
          <a:ext cx="8714232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227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Matrícula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A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A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A7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Ciência de Dados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Ciência de Dados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Ciência de Dados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3434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encontrar o estudante de matrícula 1082?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RESOLVERIA?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5188" y="14173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1071220" y="1655064"/>
            <a:ext cx="146304" cy="146304"/>
          </a:xfrm>
          <a:prstGeom prst="ellipse">
            <a:avLst/>
          </a:prstGeom>
          <a:solidFill>
            <a:srgbClr val="4F5A71"/>
          </a:solidFill>
          <a:ln/>
        </p:spPr>
      </p:sp>
      <p:sp>
        <p:nvSpPr>
          <p:cNvPr id="5" name="Text 3"/>
          <p:cNvSpPr/>
          <p:nvPr/>
        </p:nvSpPr>
        <p:spPr>
          <a:xfrm>
            <a:off x="1318108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9508" y="1965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 1082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72788" y="14173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4728820" y="1655064"/>
            <a:ext cx="146304" cy="146304"/>
          </a:xfrm>
          <a:prstGeom prst="ellipse">
            <a:avLst/>
          </a:prstGeom>
          <a:solidFill>
            <a:srgbClr val="6A8F94"/>
          </a:solidFill>
          <a:ln/>
        </p:spPr>
      </p:sp>
      <p:sp>
        <p:nvSpPr>
          <p:cNvPr id="9" name="Text 7"/>
          <p:cNvSpPr/>
          <p:nvPr/>
        </p:nvSpPr>
        <p:spPr>
          <a:xfrm>
            <a:off x="4975708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47108" y="1965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coleção de estudantes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30388" y="14173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6420" y="1655064"/>
            <a:ext cx="146304" cy="146304"/>
          </a:xfrm>
          <a:prstGeom prst="ellipse">
            <a:avLst/>
          </a:prstGeom>
          <a:solidFill>
            <a:srgbClr val="8B695B"/>
          </a:solidFill>
          <a:ln/>
        </p:spPr>
      </p:sp>
      <p:sp>
        <p:nvSpPr>
          <p:cNvPr id="13" name="Text 11"/>
          <p:cNvSpPr/>
          <p:nvPr/>
        </p:nvSpPr>
        <p:spPr>
          <a:xfrm>
            <a:off x="8633308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04708" y="1965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correspondente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seria o seu algoritmo?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PRIMEIRA SOLUÇÃO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05840" y="1371600"/>
            <a:ext cx="10177272" cy="2331720"/>
          </a:xfrm>
          <a:prstGeom prst="roundRect">
            <a:avLst>
              <a:gd name="adj" fmla="val 3137"/>
            </a:avLst>
          </a:prstGeom>
          <a:solidFill>
            <a:srgbClr val="2E3033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1554480"/>
            <a:ext cx="128016" cy="128016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1554480"/>
            <a:ext cx="128016" cy="128016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746504" y="1554480"/>
            <a:ext cx="128016" cy="128016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74520"/>
            <a:ext cx="9445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buscar(estudantes, matricula):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estudante in estudantes: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estudante["matricula"] == matricula: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estudante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Funciona. Então o problema está resolvido?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6035040"/>
            <a:ext cx="2871216" cy="310896"/>
          </a:xfrm>
          <a:prstGeom prst="roundRect">
            <a:avLst>
              <a:gd name="adj" fmla="val 23529"/>
            </a:avLst>
          </a:prstGeom>
          <a:solidFill>
            <a:srgbClr val="4F5A7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035040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Professor: Busca sequencial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6035040"/>
            <a:ext cx="3792931" cy="310896"/>
          </a:xfrm>
          <a:prstGeom prst="roundRect">
            <a:avLst>
              <a:gd name="adj" fmla="val 23529"/>
            </a:avLst>
          </a:prstGeom>
          <a:solidFill>
            <a:srgbClr val="6A8F94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6035040"/>
            <a:ext cx="379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Estudante: Atividade 1 — Complete a busca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OBSERVAR O ALGORITMO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826868" y="13716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26868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78428" y="13716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98468" y="13716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98468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0028" y="13716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0068" y="13716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0068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1628" y="13716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1668" y="13716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1668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93228" y="13716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13268" y="13716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3268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1488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1082: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01088" y="26060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1088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comparação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87088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52848" y="26060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2848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comparação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38848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4608" y="26060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4F5A71"/>
          </a:solidFill>
          <a:ln w="12700">
            <a:solidFill>
              <a:srgbClr val="4F5A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4608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3ª comparação 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7947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trabalho foi necessário?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57200" y="6035040"/>
            <a:ext cx="3134563" cy="310896"/>
          </a:xfrm>
          <a:prstGeom prst="roundRect">
            <a:avLst>
              <a:gd name="adj" fmla="val 23529"/>
            </a:avLst>
          </a:prstGeom>
          <a:solidFill>
            <a:srgbClr val="4F5A7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035040"/>
            <a:ext cx="31345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Professor: Contando comparações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56355" y="6035040"/>
            <a:ext cx="3134563" cy="310896"/>
          </a:xfrm>
          <a:prstGeom prst="roundRect">
            <a:avLst>
              <a:gd name="adj" fmla="val 23529"/>
            </a:avLst>
          </a:prstGeom>
          <a:solidFill>
            <a:srgbClr val="6A8F94"/>
          </a:solidFill>
          <a:ln/>
        </p:spPr>
      </p:sp>
      <p:sp>
        <p:nvSpPr>
          <p:cNvPr id="30" name="Text 28"/>
          <p:cNvSpPr/>
          <p:nvPr/>
        </p:nvSpPr>
        <p:spPr>
          <a:xfrm>
            <a:off x="3756355" y="6035040"/>
            <a:ext cx="31345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Estudante: Contando comparações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POSIÇÃO IMPORTA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82600" y="15087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1976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2640" y="219456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2640" y="2194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2640" y="257860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2640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2640" y="2962656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2640" y="29626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2640" y="3346704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2640" y="33467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2640" y="3730752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2640" y="3730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53232" y="15087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3590392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INTERMEDIÁRIO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73272" y="219456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3272" y="2194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73272" y="257860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3272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73272" y="2962656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3272" y="29626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73272" y="3346704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3272" y="33467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73272" y="3730752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3272" y="3730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23864" y="15087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28" name="Text 26"/>
          <p:cNvSpPr/>
          <p:nvPr/>
        </p:nvSpPr>
        <p:spPr>
          <a:xfrm>
            <a:off x="6361024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43904" y="219456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3904" y="2194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43904" y="257860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3904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43904" y="2962656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3904" y="29626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43904" y="3346704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3904" y="33467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43904" y="3730752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3904" y="3730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94496" y="15087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</p:sp>
      <p:sp>
        <p:nvSpPr>
          <p:cNvPr id="40" name="Text 38"/>
          <p:cNvSpPr/>
          <p:nvPr/>
        </p:nvSpPr>
        <p:spPr>
          <a:xfrm>
            <a:off x="9131656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INEXISTENTE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14536" y="219456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14536" y="21945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314536" y="257860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14536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314536" y="2962656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14536" y="29626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314536" y="3346704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14536" y="334670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314536" y="3730752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7DB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14536" y="3730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" y="4023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algoritmo realiza a mesma quantidade de trabalho?</a:t>
            </a:r>
            <a:endParaRPr lang="en-US" sz="2700" dirty="0"/>
          </a:p>
        </p:txBody>
      </p:sp>
      <p:sp>
        <p:nvSpPr>
          <p:cNvPr id="52" name="Text 5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QUANTIFICANDO O TRABALHO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48840"/>
          <a:ext cx="5669280" cy="2743200"/>
        </p:xfrm>
        <a:graphic>
          <a:graphicData uri="http://schemas.openxmlformats.org/drawingml/2006/table">
            <a:tbl>
              <a:tblPr/>
              <a:tblGrid>
                <a:gridCol w="356616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A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Comparações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A7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primeiro registro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 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 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último registro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inexistente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24231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</p:sp>
      <p:sp>
        <p:nvSpPr>
          <p:cNvPr id="5" name="Text 2"/>
          <p:cNvSpPr/>
          <p:nvPr/>
        </p:nvSpPr>
        <p:spPr>
          <a:xfrm>
            <a:off x="7635240" y="2560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tamanho da entrada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406640" y="37490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3D3F41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3913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problema: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4160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quantidade de estudantes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coleção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QUANDO OS DADOS CRESCEM?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98648" y="1371600"/>
          <a:ext cx="6400800" cy="288036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Estudantes (n)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A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Comparações no pior caso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A7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D3F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C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5262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um padrão?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449928" y="6355080"/>
            <a:ext cx="3397910" cy="310896"/>
          </a:xfrm>
          <a:prstGeom prst="roundRect">
            <a:avLst>
              <a:gd name="adj" fmla="val 23529"/>
            </a:avLst>
          </a:prstGeom>
          <a:solidFill>
            <a:srgbClr val="FFC000"/>
          </a:solidFill>
          <a:ln/>
        </p:spPr>
      </p:sp>
      <p:sp>
        <p:nvSpPr>
          <p:cNvPr id="6" name="Text 3"/>
          <p:cNvSpPr/>
          <p:nvPr/>
        </p:nvSpPr>
        <p:spPr>
          <a:xfrm>
            <a:off x="4449928" y="6355080"/>
            <a:ext cx="33979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· Exercício 3 — Antes de executar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DEPENDE DO TAMANHO DA ENTRADA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T(n) = quantidade de operações realizadas para uma entrada de tamanho 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441448" y="1828800"/>
            <a:ext cx="731520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2441448" y="1828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T(n) = a·n + b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23748" y="35204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908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09548" y="3520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 elementos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1348" y="35204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8508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67148" y="3520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por elemento processado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38948" y="35204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6108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24748" y="3520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independentes de 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T(n) ∝ 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 que o custo cresce proporcionalmente ao tamanho da entrada.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DE GRANDEZA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n cresce, interessa principalmente como o custo cresce.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T(n) = a·n + 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57800" y="2148840"/>
            <a:ext cx="1673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068312" y="214884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4F5A71"/>
          </a:solidFill>
          <a:ln/>
        </p:spPr>
      </p:sp>
      <p:sp>
        <p:nvSpPr>
          <p:cNvPr id="8" name="Text 6"/>
          <p:cNvSpPr/>
          <p:nvPr/>
        </p:nvSpPr>
        <p:spPr>
          <a:xfrm>
            <a:off x="7068312" y="2148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280160" y="4114800"/>
            <a:ext cx="9628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Big-O descreve uma ordem de crescimento do custo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função do tamanho da entrada.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ORDENS DE CRESCIMENTO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55368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07128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58888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463040" y="1828800"/>
          <a:ext cx="926287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8920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com o trabalho quando n dobra?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352648" y="6400800"/>
            <a:ext cx="4582973" cy="310896"/>
          </a:xfrm>
          <a:prstGeom prst="roundRect">
            <a:avLst>
              <a:gd name="adj" fmla="val 23529"/>
            </a:avLst>
          </a:prstGeom>
          <a:solidFill>
            <a:srgbClr val="FFC000"/>
          </a:solidFill>
          <a:ln/>
        </p:spPr>
      </p:sp>
      <p:sp>
        <p:nvSpPr>
          <p:cNvPr id="9" name="Text 6"/>
          <p:cNvSpPr/>
          <p:nvPr/>
        </p:nvSpPr>
        <p:spPr>
          <a:xfrm>
            <a:off x="3352648" y="6400800"/>
            <a:ext cx="4582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· Exercício 4 — De T(n) para a ordem de crescimento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NOSSA BUSCA?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9445752" cy="1371600"/>
          </a:xfrm>
          <a:prstGeom prst="roundRect">
            <a:avLst>
              <a:gd name="adj" fmla="val 5333"/>
            </a:avLst>
          </a:prstGeom>
          <a:solidFill>
            <a:srgbClr val="2E3033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536192"/>
            <a:ext cx="128016" cy="128016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856232" y="1536192"/>
            <a:ext cx="128016" cy="128016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2112264" y="1536192"/>
            <a:ext cx="128016" cy="128016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783080"/>
            <a:ext cx="8714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estudante in estudantes: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estudante["matricula"] == procurada: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estudante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75408" y="306324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2804008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CASO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04008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24448" y="306324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PIOR CASO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3048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por quê.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3002890" cy="310896"/>
          </a:xfrm>
          <a:prstGeom prst="roundRect">
            <a:avLst>
              <a:gd name="adj" fmla="val 23529"/>
            </a:avLst>
          </a:prstGeom>
          <a:solidFill>
            <a:srgbClr val="4F5A7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035040"/>
            <a:ext cx="3002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Professor: Melhor e pior caso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24682" y="6035040"/>
            <a:ext cx="4451299" cy="310896"/>
          </a:xfrm>
          <a:prstGeom prst="roundRect">
            <a:avLst>
              <a:gd name="adj" fmla="val 23529"/>
            </a:avLst>
          </a:prstGeom>
          <a:solidFill>
            <a:srgbClr val="6A8F94"/>
          </a:solidFill>
          <a:ln/>
        </p:spPr>
      </p:sp>
      <p:sp>
        <p:nvSpPr>
          <p:cNvPr id="18" name="Text 16"/>
          <p:cNvSpPr/>
          <p:nvPr/>
        </p:nvSpPr>
        <p:spPr>
          <a:xfrm>
            <a:off x="3624682" y="6035040"/>
            <a:ext cx="44512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Estudante: Atividade 3 — Compare melhor e pior caso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BIG-O NÃO É CRONÔMETRO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386688" y="1325880"/>
            <a:ext cx="4480560" cy="2788920"/>
          </a:xfrm>
          <a:prstGeom prst="roundRect">
            <a:avLst>
              <a:gd name="adj" fmla="val 3279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1661008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OBSERVADO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61008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0,003 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61008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0,021 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61008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0,184 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324448" y="1325880"/>
            <a:ext cx="4480560" cy="2788920"/>
          </a:xfrm>
          <a:prstGeom prst="roundRect">
            <a:avLst>
              <a:gd name="adj" fmla="val 3279"/>
            </a:avLst>
          </a:prstGeom>
          <a:solidFill>
            <a:srgbClr val="4F5A71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DE CRESCIMENTO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98768" y="2240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execução observado ≠ ordem de crescimento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tempos são diferentes. O número de comparações também é?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650992"/>
            <a:ext cx="3595421" cy="310896"/>
          </a:xfrm>
          <a:prstGeom prst="roundRect">
            <a:avLst>
              <a:gd name="adj" fmla="val 23529"/>
            </a:avLst>
          </a:prstGeom>
          <a:solidFill>
            <a:srgbClr val="4F5A7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650992"/>
            <a:ext cx="35954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Professor: Tempo × número de operações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17213" y="5650992"/>
            <a:ext cx="3595421" cy="310896"/>
          </a:xfrm>
          <a:prstGeom prst="roundRect">
            <a:avLst>
              <a:gd name="adj" fmla="val 23529"/>
            </a:avLst>
          </a:prstGeom>
          <a:solidFill>
            <a:srgbClr val="6A8F94"/>
          </a:solidFill>
          <a:ln/>
        </p:spPr>
      </p:sp>
      <p:sp>
        <p:nvSpPr>
          <p:cNvPr id="16" name="Text 14"/>
          <p:cNvSpPr/>
          <p:nvPr/>
        </p:nvSpPr>
        <p:spPr>
          <a:xfrm>
            <a:off x="4217213" y="5650992"/>
            <a:ext cx="35954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Estudante: Tempo × número de operações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6035040"/>
            <a:ext cx="4319626" cy="310896"/>
          </a:xfrm>
          <a:prstGeom prst="roundRect">
            <a:avLst>
              <a:gd name="adj" fmla="val 23529"/>
            </a:avLst>
          </a:prstGeom>
          <a:solidFill>
            <a:srgbClr val="FFC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035040"/>
            <a:ext cx="431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· Exercício 5 — O cronômetro contradiz o Big-O?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TESTAR NOSSA HIPÓTESE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9994392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9445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 aumentar, o número de comparações da busca sequencial</a:t>
            </a:r>
            <a:endParaRPr lang="en-US" sz="1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crescerá linearmente no pior caso.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83868" y="26517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6A8F94"/>
          </a:solidFill>
          <a:ln/>
        </p:spPr>
      </p:sp>
      <p:sp>
        <p:nvSpPr>
          <p:cNvPr id="6" name="Text 4"/>
          <p:cNvSpPr/>
          <p:nvPr/>
        </p:nvSpPr>
        <p:spPr>
          <a:xfrm>
            <a:off x="1683868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49828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69868" y="26517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6A8F94"/>
          </a:solidFill>
          <a:ln/>
        </p:spPr>
      </p:sp>
      <p:sp>
        <p:nvSpPr>
          <p:cNvPr id="9" name="Text 7"/>
          <p:cNvSpPr/>
          <p:nvPr/>
        </p:nvSpPr>
        <p:spPr>
          <a:xfrm>
            <a:off x="3969868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35828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5868" y="26517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6A8F94"/>
          </a:solidFill>
          <a:ln/>
        </p:spPr>
      </p:sp>
      <p:sp>
        <p:nvSpPr>
          <p:cNvPr id="12" name="Text 10"/>
          <p:cNvSpPr/>
          <p:nvPr/>
        </p:nvSpPr>
        <p:spPr>
          <a:xfrm>
            <a:off x="6255868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1828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41868" y="26517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6A8F94"/>
          </a:solidFill>
          <a:ln/>
        </p:spPr>
      </p:sp>
      <p:sp>
        <p:nvSpPr>
          <p:cNvPr id="15" name="Text 13"/>
          <p:cNvSpPr/>
          <p:nvPr/>
        </p:nvSpPr>
        <p:spPr>
          <a:xfrm>
            <a:off x="8541868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1.000.000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multiplicarmos n por 10, o que esperamos que aconteça com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de comparações?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Esperamos exatamente a mesma coisa para o tempo?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6035040"/>
            <a:ext cx="4780483" cy="310896"/>
          </a:xfrm>
          <a:prstGeom prst="roundRect">
            <a:avLst>
              <a:gd name="adj" fmla="val 23529"/>
            </a:avLst>
          </a:prstGeom>
          <a:solidFill>
            <a:srgbClr val="4F5A7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035040"/>
            <a:ext cx="47804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Professor: Experimento — crescimento da busca sequencial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02275" y="6035040"/>
            <a:ext cx="4780483" cy="310896"/>
          </a:xfrm>
          <a:prstGeom prst="roundRect">
            <a:avLst>
              <a:gd name="adj" fmla="val 23529"/>
            </a:avLst>
          </a:prstGeom>
          <a:solidFill>
            <a:srgbClr val="6A8F94"/>
          </a:solidFill>
          <a:ln/>
        </p:spPr>
      </p:sp>
      <p:sp>
        <p:nvSpPr>
          <p:cNvPr id="21" name="Text 19"/>
          <p:cNvSpPr/>
          <p:nvPr/>
        </p:nvSpPr>
        <p:spPr>
          <a:xfrm>
            <a:off x="5402275" y="6035040"/>
            <a:ext cx="47804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· Estudante: Experimento — crescimento da busca sequencial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3F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CONTINUA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funciona.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Mas, no pior caso, precisamos examinar n elementos.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569568" y="260604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4A4D50"/>
          </a:solidFill>
          <a:ln/>
        </p:spPr>
      </p:sp>
      <p:sp>
        <p:nvSpPr>
          <p:cNvPr id="6" name="Text 4"/>
          <p:cNvSpPr/>
          <p:nvPr/>
        </p:nvSpPr>
        <p:spPr>
          <a:xfrm>
            <a:off x="1569568" y="2606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milhões de estudantes?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24448" y="260604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4A4D50"/>
          </a:solidFill>
          <a:ln/>
        </p:spPr>
      </p:sp>
      <p:sp>
        <p:nvSpPr>
          <p:cNvPr id="8" name="Text 6"/>
          <p:cNvSpPr/>
          <p:nvPr/>
        </p:nvSpPr>
        <p:spPr>
          <a:xfrm>
            <a:off x="6324448" y="2606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Milhares de consultas?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Podemos organizar os dados de outra maneira?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215488" y="6035040"/>
            <a:ext cx="4912157" cy="310896"/>
          </a:xfrm>
          <a:prstGeom prst="roundRect">
            <a:avLst>
              <a:gd name="adj" fmla="val 23529"/>
            </a:avLst>
          </a:prstGeom>
          <a:solidFill>
            <a:srgbClr val="FFC000"/>
          </a:solidFill>
          <a:ln/>
        </p:spPr>
      </p:sp>
      <p:sp>
        <p:nvSpPr>
          <p:cNvPr id="11" name="Text 9"/>
          <p:cNvSpPr/>
          <p:nvPr/>
        </p:nvSpPr>
        <p:spPr>
          <a:xfrm>
            <a:off x="3215488" y="6035040"/>
            <a:ext cx="49121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· Exercício 6 — Uma solução correta pode ser inadequada?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Semana 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2026-08-10T22:51:48Z</dcterms:created>
  <dcterms:modified xsi:type="dcterms:W3CDTF">2026-08-10T22:51:48Z</dcterms:modified>
</cp:coreProperties>
</file>